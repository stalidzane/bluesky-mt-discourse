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71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10-second cold open: 'Machine translation is now part of everyday language work. We asked Bluesky how it really feels about that.' Move on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35s. State the four RQs briefly, point at the cards, don't read them verbatim. RQ1-3 = content analysis (my part), RQ4 = network analysis (Pelinsu's part).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30-35s. Quick pipeline + the 4 headline stats. Mention unknown-vs-general distinction in one sentence,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25-30s. One sentence per column, don't over-explain — the payoff comes in the results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45-50s. This is the headline finding — spend real time here. Point at the bars: VADER positive-heavy, RoBERTa balanced. Read the quote example. Land on the takeaway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40-45s. Emotion: point at how flat/similar the two bar charts LOOK different (NRCLex has 2 huge bars, DistilRoBERTa is flatter with neutral dominant). NER: just say DeepL/Google Translate win everywhere, tech leans LLM. Then hand off to Pelinsu.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30-35s. Two model families, one sentence each. Mention the reproducibility caveat briefly — it's a strength (honesty), not a weakness, say it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40-45s. Structure is sparse/fragmented — say that plainly. Centrality: professionals dominate follow-attention but reply-attention is a completely different, event-driven story (the viral thread).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50s. This is Pelinsu's headline slide. Point at the network image — the two colored professional clusters vs. many general-dominated ones. Land on the RQ4 answer in the navy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40s, split the 4 bullets between the two of you or have whoever's more comfortable closing take it. Speak slowly here — it's the payoff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20-25s. Read fast, this is a checklist not a discussion. Shows the grader we know our own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5-10s. Just say thank you,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4406B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4406B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SOCIAL MEDIA SEARCH AND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 Discourse on Bluesky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threat, or both? What 3,864 posts and their social network reveal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0116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   •   Pelinsu Topaloglu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Artificial Intelligence — Prof. Marco Viviani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Tool, threat, or both?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DeepL, Google Translate, and LLM-based translation are now used by casual users, professional translators, and developers alike. We studied how Bluesky talks about it — and whether professionals and the general public frame it differently.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429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framing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251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threat, or both?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12" name="Text 9"/>
          <p:cNvSpPr/>
          <p:nvPr/>
        </p:nvSpPr>
        <p:spPr>
          <a:xfrm>
            <a:off x="356616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566160" y="3429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impact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66160" y="4251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translators discuss career effects?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27432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16" name="Text 13"/>
          <p:cNvSpPr/>
          <p:nvPr/>
        </p:nvSpPr>
        <p:spPr>
          <a:xfrm>
            <a:off x="640080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400800" y="3429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vs. displacement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0" y="4251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people hold both views at once?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052560" y="27432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20" name="Text 17"/>
          <p:cNvSpPr/>
          <p:nvPr/>
        </p:nvSpPr>
        <p:spPr>
          <a:xfrm>
            <a:off x="923544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235440" y="3429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structure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235440" y="4251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professionals and the public form separate communities?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a year of MT discourse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API (atproto), 12-month window: seed search on MT keywords/hashtags → full reply-thread crawl → follower crawl + profile fetch for bio-based labeling.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3,864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3639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analyzed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743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1" name="Text 8"/>
          <p:cNvSpPr/>
          <p:nvPr/>
        </p:nvSpPr>
        <p:spPr>
          <a:xfrm>
            <a:off x="3319272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2,303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19272" y="3639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profiles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9904" y="2743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4" name="Text 11"/>
          <p:cNvSpPr/>
          <p:nvPr/>
        </p:nvSpPr>
        <p:spPr>
          <a:xfrm>
            <a:off x="6089904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133,428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089904" y="3639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edges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860536" y="2743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7" name="Text 14"/>
          <p:cNvSpPr/>
          <p:nvPr/>
        </p:nvSpPr>
        <p:spPr>
          <a:xfrm>
            <a:off x="8860536" y="2880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860536" y="3639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collected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type, by bio keyword match: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468880" y="4846320"/>
            <a:ext cx="2926080" cy="228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22" name="Text 19"/>
          <p:cNvSpPr/>
          <p:nvPr/>
        </p:nvSpPr>
        <p:spPr>
          <a:xfrm>
            <a:off x="557784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  (2,843)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468880" y="5230368"/>
            <a:ext cx="628153" cy="228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25" name="Text 22"/>
          <p:cNvSpPr/>
          <p:nvPr/>
        </p:nvSpPr>
        <p:spPr>
          <a:xfrm>
            <a:off x="557784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  (610)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5568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468880" y="5614416"/>
            <a:ext cx="222637" cy="228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28" name="Text 25"/>
          <p:cNvSpPr/>
          <p:nvPr/>
        </p:nvSpPr>
        <p:spPr>
          <a:xfrm>
            <a:off x="5577840" y="5568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 (218)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5952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468880" y="5998464"/>
            <a:ext cx="198783" cy="228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31" name="Text 28"/>
          <p:cNvSpPr/>
          <p:nvPr/>
        </p:nvSpPr>
        <p:spPr>
          <a:xfrm>
            <a:off x="5577840" y="5952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  (193)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680960" y="48006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“unknown” = profile fetched, no bio — kept separate from “general” deliberately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analysis: two tools per task, on purpose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sentiment and emotion, we deliberately used a lexicon-based tool and a transformer, and cross-checked them — this surfaced real weaknesses in the lexicon tools rather than hiding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204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(lexicon) vs.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cardiffnlp RoBERTa (transformer)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1" name="Text 9"/>
          <p:cNvSpPr/>
          <p:nvPr/>
        </p:nvSpPr>
        <p:spPr>
          <a:xfrm>
            <a:off x="4343400" y="22860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NRCLex (dictionary) vs.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j-hartmann DistilRoBERTa (transformer)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LV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5204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5" name="Text 13"/>
          <p:cNvSpPr/>
          <p:nvPr/>
        </p:nvSpPr>
        <p:spPr>
          <a:xfrm>
            <a:off x="8138160" y="22860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6676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curated list of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MT tools/companies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compare? Because “trust me, it's positive” isn't good enough science — see next slides.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RESULTS · RQ1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Sentiment: the tools disagree — a lot</a:t>
            </a:r>
            <a:endParaRPr lang="en-US" sz="3000" dirty="0"/>
          </a:p>
        </p:txBody>
      </p:sp>
      <p:pic>
        <p:nvPicPr>
          <p:cNvPr id="4" name="Image 0" descr="/Users/ilonalinda/uni/web&amp;social/project/data/sentiment_t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1206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55448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 agreement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VADER and RoBERTa — 458 posts (11.9%) in outright opposite-polarity disagreement.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VADER: fooled by individually-positive words.</a:t>
            </a:r>
            <a:endParaRPr lang="en-US" sz="1550" dirty="0"/>
          </a:p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“Perfect example of how machine translation is totally untrustworthy” → VADER: +0.57 positive (from “perfect”). RoBERTa: negative — correctly.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7" name="Text 4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discourse is genuinely mixed (23%/46%/31%), not predominantly positive as VADER alone suggests. Professionals score most positive on average (mean 0.201 vs. 0.139 general) — consistent with acknowledging MT's day-to-day utility, not framing it purely as a threat.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RESULTS · EMOTION &amp; ENTITIES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tool matters more than the topic</a:t>
            </a:r>
            <a:endParaRPr lang="en-US" sz="3000" dirty="0"/>
          </a:p>
        </p:txBody>
      </p:sp>
      <p:pic>
        <p:nvPicPr>
          <p:cNvPr id="4" name="Image 0" descr="/Users/ilonalinda/uni/web&amp;social/project/data/emotion_t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040880" cy="2688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4630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NRCLex says “trust” or “fear”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~80% of posts — almost regardless of content. Conditioned on posts where DistilRoBERTa confidently detects a specific emotion, the two tools still agree only 15.6% of the time.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772400" y="3108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“trust” is an oversized NRC lexicon category that fires on ordinary vocabulary — not genuine signal.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V"/>
          </a:p>
        </p:txBody>
      </p:sp>
      <p:pic>
        <p:nvPicPr>
          <p:cNvPr id="8" name="Image 1" descr="/Users/ilonalinda/uni/web&amp;social/project/data/known_tools_by_user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75780"/>
            <a:ext cx="3073400" cy="20244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37760" y="493776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5,523 extracted. DeepL &amp; Google Translate dominate for every group; tech users lean toward Claude/LLM-based translation at a disproportionate rate.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analysis: who talks to whom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08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graph and reply graph kept separate (different social relations). Structural analysis restricted to the post-authors subgraph — the full follow graph is an ego-network sample, capped per account by API pagination.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8" name="Text 5"/>
          <p:cNvSpPr/>
          <p:nvPr/>
        </p:nvSpPr>
        <p:spPr>
          <a:xfrm>
            <a:off x="822960" y="2907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931920" y="290779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In/out-degree, PageRank, betweenness, closeness — who's visible, who bridges groups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1" name="Text 8"/>
          <p:cNvSpPr/>
          <p:nvPr/>
        </p:nvSpPr>
        <p:spPr>
          <a:xfrm>
            <a:off x="822960" y="4325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detection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31920" y="4325112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Louvain, Greedy Modularity, FluidC, Girvan–Newman — compared on the same graph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note: Louvain/FluidC results shift slightly run-to-run (Python hash randomization) — acknowledged, not hidden.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Pelinsu Topaloglu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RESULTS · STRUCTURE &amp; CENTRALITY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loosely connected discourse</a:t>
            </a:r>
            <a:endParaRPr lang="en-US" sz="3000" dirty="0"/>
          </a:p>
        </p:txBody>
      </p:sp>
      <p:pic>
        <p:nvPicPr>
          <p:cNvPr id="4" name="Image 0" descr="/Users/ilonalinda/uni/web&amp;social/project/data/degre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223760" cy="2779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14630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1,339 nodes, 1,320 edges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(density 0.0007), 535 fragments — largest component covers only 676 nodes (~half). Low reciprocity (0.16): attention flows one way.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63840" y="32004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at in-degree ≈100 = API pagination cap, a collection artifact, not real structure.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LV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attention concentrates on professionals: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top 15 by in-degree, 10 of top 15 by closeness. Betweenness splits exactly 5/5 — professionals bridge, but don't monopolize.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network inverts this: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most-replied accounts are mostly general users — one viral thread (364 replies, ~5.6× the runner-up) from far outside the translation community. Professionals are followed; virality happens around general accounts.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Pelinsu Topaloglu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RESULTS · RQ4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detection: not one hub, a few</a:t>
            </a:r>
            <a:endParaRPr lang="en-US" sz="3000" dirty="0"/>
          </a:p>
        </p:txBody>
      </p:sp>
      <p:pic>
        <p:nvPicPr>
          <p:cNvPr id="4" name="Image 0" descr="/Users/ilonalinda/uni/web&amp;social/project/data/commun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126480" cy="4416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4630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communities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(Louvain, modularity 0.728, consistent with 3 other algorithms). Two are professional-majority — not the single hub we expected.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766560" y="278892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7" name="Text 4"/>
          <p:cNvSpPr/>
          <p:nvPr/>
        </p:nvSpPr>
        <p:spPr>
          <a:xfrm>
            <a:off x="694944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nodes — 134 professional vs. 112 general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MTPE rates, working conditions, industry news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3840480"/>
            <a:ext cx="484632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9" name="Text 6"/>
          <p:cNvSpPr/>
          <p:nvPr/>
        </p:nvSpPr>
        <p:spPr>
          <a:xfrm>
            <a:off x="6949440" y="3931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nodes — 57 professional vs. 49 general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margin, more heterogeneous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6656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rest: general-dominated, organized by fandom/topic (game localization, fan translation) — not by profession.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5715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2" name="Text 9"/>
          <p:cNvSpPr/>
          <p:nvPr/>
        </p:nvSpPr>
        <p:spPr>
          <a:xfrm>
            <a:off x="6903720" y="57607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“professionals vs. the public” is too simple — it's a few professional hubs surrounded by many independent fan conversations.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Pelinsu Topaloglu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products, not tribes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0195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5" name="Text 3"/>
          <p:cNvSpPr/>
          <p:nvPr/>
        </p:nvSpPr>
        <p:spPr>
          <a:xfrm>
            <a:off x="960120" y="171907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translators are the most visible, most-followed, and — most positive on average: they discuss MT with nuance, acknowledging utility while contesting working conditions.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95351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7" name="Text 5"/>
          <p:cNvSpPr/>
          <p:nvPr/>
        </p:nvSpPr>
        <p:spPr>
          <a:xfrm>
            <a:off x="960120" y="27706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users don't oppose them as a bloc — they scatter across many product- and fandom-centered conversations (game localization, fan translation), each triggered by a specific encounter with MT.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400507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9" name="Text 7"/>
          <p:cNvSpPr/>
          <p:nvPr/>
        </p:nvSpPr>
        <p:spPr>
          <a:xfrm>
            <a:off x="960120" y="38221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attention is event-driven (one viral thread dominates replies), while follow-attention is sustained and professional-led — two different kinds of “importance.”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5056632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11" name="Text 9"/>
          <p:cNvSpPr/>
          <p:nvPr/>
        </p:nvSpPr>
        <p:spPr>
          <a:xfrm>
            <a:off x="960120" y="48737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and Google Translate dominate the conversation for every group: the discourse organizes around concrete tools, not an abstract pro/anti divide.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 &amp; Pelinsu Topaloglu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can't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L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69712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377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platform, one ~12-month window — findings may not generalize.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30358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303580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topical filter and author labeling, not validated classifiers.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369417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369417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NER (spaCy) mis-tags domain acronyms (MTPE, LLM) as organizations.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435254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5920" y="4352544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tools (VADER, NRCLex) diverge substantially from transformers — no gold-standard annotation to say which is “correct,” only that they disagree.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501091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45920" y="501091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Ego-network sample with a 100-follower cap per account; Louvain/FluidC community results vary slightly run-to-run.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 &amp; Pelinsu Topaloglu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4406B"/>
          </a:solidFill>
          <a:ln/>
        </p:spPr>
        <p:txBody>
          <a:bodyPr/>
          <a:lstStyle/>
          <a:p>
            <a:endParaRPr lang="en-LV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Stalidzane  •  Pelinsu Topaloglu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Macintosh PowerPoint</Application>
  <PresentationFormat>Widescreen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Translation Discourse on Bluesky</dc:title>
  <dc:subject>PptxGenJS Presentation</dc:subject>
  <dc:creator>Linda Stalidzane, Pelinsu Topaloglu</dc:creator>
  <cp:lastModifiedBy>Linda Stalidzāne</cp:lastModifiedBy>
  <cp:revision>2</cp:revision>
  <dcterms:created xsi:type="dcterms:W3CDTF">2026-07-07T14:21:24Z</dcterms:created>
  <dcterms:modified xsi:type="dcterms:W3CDTF">2026-07-07T14:22:36Z</dcterms:modified>
</cp:coreProperties>
</file>